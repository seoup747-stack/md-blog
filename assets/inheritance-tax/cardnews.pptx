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bbb23504574d65" /><Relationship Type="http://schemas.openxmlformats.org/officeDocument/2006/relationships/extended-properties" Target="/docProps/app.xml" Id="R6fe8c73836734018" /><Relationship Type="http://schemas.openxmlformats.org/officeDocument/2006/relationships/officeDocument" Target="/ppt/presentation.xml" Id="Raf7a1e2b3bf743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93b4e3bddc4ec1"/>
  </p:sldMasterIdLst>
  <p:notesMasterIdLst>
    <p:notesMasterId xmlns:r="http://schemas.openxmlformats.org/officeDocument/2006/relationships" r:id="Rab2cd02f4b384da5"/>
  </p:notesMasterIdLst>
  <p:sldIdLst>
    <p:sldId xmlns:r="http://schemas.openxmlformats.org/officeDocument/2006/relationships" id="256" r:id="R3e055a9241bd4e27"/>
    <p:sldId xmlns:r="http://schemas.openxmlformats.org/officeDocument/2006/relationships" id="257" r:id="R54120257e7694030"/>
    <p:sldId xmlns:r="http://schemas.openxmlformats.org/officeDocument/2006/relationships" id="258" r:id="R8f5fa46548ac4e00"/>
    <p:sldId xmlns:r="http://schemas.openxmlformats.org/officeDocument/2006/relationships" id="259" r:id="R79837c0e79fc4abd"/>
    <p:sldId xmlns:r="http://schemas.openxmlformats.org/officeDocument/2006/relationships" id="260" r:id="R51cbe3cceb3e4f0d"/>
    <p:sldId xmlns:r="http://schemas.openxmlformats.org/officeDocument/2006/relationships" id="261" r:id="R43bea6f9b9594503"/>
    <p:sldId xmlns:r="http://schemas.openxmlformats.org/officeDocument/2006/relationships" id="262" r:id="R8f6f0d000bf847b6"/>
    <p:sldId xmlns:r="http://schemas.openxmlformats.org/officeDocument/2006/relationships" id="263" r:id="R132daba2625e4872"/>
    <p:sldId xmlns:r="http://schemas.openxmlformats.org/officeDocument/2006/relationships" id="264" r:id="Ra197b246c01d45a9"/>
    <p:sldId xmlns:r="http://schemas.openxmlformats.org/officeDocument/2006/relationships" id="265" r:id="R901547f55a644c94"/>
  </p:sldIdLst>
  <p:sldSz cx="10287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d990d9996a488d" /><Relationship Type="http://schemas.openxmlformats.org/officeDocument/2006/relationships/slideMaster" Target="/ppt/slideMasters/slideMaster1.xml" Id="R0893b4e3bddc4ec1" /><Relationship Type="http://schemas.openxmlformats.org/officeDocument/2006/relationships/notesMaster" Target="/ppt/notesMasters/notesMaster1.xml" Id="Rab2cd02f4b384da5" /><Relationship Type="http://schemas.openxmlformats.org/officeDocument/2006/relationships/presProps" Target="/ppt/presProps.xml" Id="R8007643b39204fff" /><Relationship Type="http://schemas.openxmlformats.org/officeDocument/2006/relationships/tableStyles" Target="/ppt/tableStyles.xml" Id="R91a766a2baaa4ebe" /><Relationship Type="http://schemas.openxmlformats.org/officeDocument/2006/relationships/slide" Target="/ppt/slides/slide1.xml" Id="R3e055a9241bd4e27" /><Relationship Type="http://schemas.openxmlformats.org/officeDocument/2006/relationships/slide" Target="/ppt/slides/slide2.xml" Id="R54120257e7694030" /><Relationship Type="http://schemas.openxmlformats.org/officeDocument/2006/relationships/slide" Target="/ppt/slides/slide3.xml" Id="R8f5fa46548ac4e00" /><Relationship Type="http://schemas.openxmlformats.org/officeDocument/2006/relationships/slide" Target="/ppt/slides/slide4.xml" Id="R79837c0e79fc4abd" /><Relationship Type="http://schemas.openxmlformats.org/officeDocument/2006/relationships/slide" Target="/ppt/slides/slide5.xml" Id="R51cbe3cceb3e4f0d" /><Relationship Type="http://schemas.openxmlformats.org/officeDocument/2006/relationships/slide" Target="/ppt/slides/slide6.xml" Id="R43bea6f9b9594503" /><Relationship Type="http://schemas.openxmlformats.org/officeDocument/2006/relationships/slide" Target="/ppt/slides/slide7.xml" Id="R8f6f0d000bf847b6" /><Relationship Type="http://schemas.openxmlformats.org/officeDocument/2006/relationships/slide" Target="/ppt/slides/slide8.xml" Id="R132daba2625e4872" /><Relationship Type="http://schemas.openxmlformats.org/officeDocument/2006/relationships/slide" Target="/ppt/slides/slide9.xml" Id="Ra197b246c01d45a9" /><Relationship Type="http://schemas.openxmlformats.org/officeDocument/2006/relationships/slide" Target="/ppt/slides/slide10.xml" Id="R901547f55a644c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697cfdf3bf45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ec7e60800240af" /><Relationship Type="http://schemas.openxmlformats.org/officeDocument/2006/relationships/notesMaster" Target="/ppt/notesMasters/notesMaster1.xml" Id="R91040237f1824b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7ffd1b58d4488f" /><Relationship Type="http://schemas.openxmlformats.org/officeDocument/2006/relationships/notesMaster" Target="/ppt/notesMasters/notesMaster1.xml" Id="Rbf36554f87ed4c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7cf00d4f0d4410" /><Relationship Type="http://schemas.openxmlformats.org/officeDocument/2006/relationships/notesMaster" Target="/ppt/notesMasters/notesMaster1.xml" Id="Rb3673f02093641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add86006294f49" /><Relationship Type="http://schemas.openxmlformats.org/officeDocument/2006/relationships/notesMaster" Target="/ppt/notesMasters/notesMaster1.xml" Id="R128110a708854c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218dd9f33e4fe1" /><Relationship Type="http://schemas.openxmlformats.org/officeDocument/2006/relationships/notesMaster" Target="/ppt/notesMasters/notesMaster1.xml" Id="R0e856fb3e6c144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89eed7f0d84bb1" /><Relationship Type="http://schemas.openxmlformats.org/officeDocument/2006/relationships/notesMaster" Target="/ppt/notesMasters/notesMaster1.xml" Id="R2dd265448b354a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9970a7d63d407c" /><Relationship Type="http://schemas.openxmlformats.org/officeDocument/2006/relationships/notesMaster" Target="/ppt/notesMasters/notesMaster1.xml" Id="R57344326e5aa4b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1eae59ea3742be" /><Relationship Type="http://schemas.openxmlformats.org/officeDocument/2006/relationships/notesMaster" Target="/ppt/notesMasters/notesMaster1.xml" Id="Rc2bf575ca1b74f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358de3cf234647" /><Relationship Type="http://schemas.openxmlformats.org/officeDocument/2006/relationships/notesMaster" Target="/ppt/notesMasters/notesMaster1.xml" Id="R649abb969fdf44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0f10b804e44571" /><Relationship Type="http://schemas.openxmlformats.org/officeDocument/2006/relationships/notesMaster" Target="/ppt/notesMasters/notesMaster1.xml" Id="Rf08c6c31c25342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제공된 확정 카드뉴스 원고를 바탕으로 구성. 상속세 신고 전 꼭 확인할 7가지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제공된 확정 카드뉴스 원고를 바탕으로 구성. 상속재산을 빠짐없이 확인하세요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제공된 확정 카드뉴스 원고를 바탕으로 구성. 과거에 증여받은 재산도 확인하세요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제공된 확정 카드뉴스 원고를 바탕으로 구성. 피상속인의 채무도 확인하세요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제공된 확정 카드뉴스 원고를 바탕으로 구성. 장례비용도 자료를 챙기세요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제공된 확정 카드뉴스 원고를 바탕으로 구성. 배우자가 있다면 공제를 확인하세요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제공된 확정 카드뉴스 원고를 바탕으로 구성. 금융재산도 별도로 검토하세요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제공된 확정 카드뉴스 원고를 바탕으로 구성. 부동산은 평가금액이 중요합니다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제공된 확정 카드뉴스 원고를 바탕으로 구성. 상속세는 신고 전에 준비하는 것이 중요합니다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제공된 확정 카드뉴스 원고를 바탕으로 구성. 상속세, 혼자 판단하기 어려우신가요?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7cb794a1c440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677edd49594969" /><Relationship Type="http://schemas.openxmlformats.org/officeDocument/2006/relationships/slideLayout" Target="/ppt/slideLayouts/slideLayout1.xml" Id="R513997d5047948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3997d5047948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c9fcc9a0f4a15" /><Relationship Type="http://schemas.openxmlformats.org/officeDocument/2006/relationships/notesSlide" Target="/ppt/notesSlides/notesSlide1.xml" Id="Raf59c89ca6ed4e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f8f10b33f40fb" /><Relationship Type="http://schemas.openxmlformats.org/officeDocument/2006/relationships/notesSlide" Target="/ppt/notesSlides/notesSlide2.xml" Id="Rf4fead59c6c24f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b71b83e7844b8" /><Relationship Type="http://schemas.openxmlformats.org/officeDocument/2006/relationships/notesSlide" Target="/ppt/notesSlides/notesSlide3.xml" Id="R558ec1f628ef49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69a9547f44f32" /><Relationship Type="http://schemas.openxmlformats.org/officeDocument/2006/relationships/notesSlide" Target="/ppt/notesSlides/notesSlide4.xml" Id="R0b3d1c3dccf249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98f3c664243d0" /><Relationship Type="http://schemas.openxmlformats.org/officeDocument/2006/relationships/notesSlide" Target="/ppt/notesSlides/notesSlide5.xml" Id="R0d172badc6144f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44eeba62d4ae7" /><Relationship Type="http://schemas.openxmlformats.org/officeDocument/2006/relationships/notesSlide" Target="/ppt/notesSlides/notesSlide6.xml" Id="Rea30064c877b4b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8e78796804c06" /><Relationship Type="http://schemas.openxmlformats.org/officeDocument/2006/relationships/notesSlide" Target="/ppt/notesSlides/notesSlide7.xml" Id="R4a797ddb697740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9b2def4c44e0b" /><Relationship Type="http://schemas.openxmlformats.org/officeDocument/2006/relationships/notesSlide" Target="/ppt/notesSlides/notesSlide8.xml" Id="Rd341f154ac0b46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12886904145cc" /><Relationship Type="http://schemas.openxmlformats.org/officeDocument/2006/relationships/notesSlide" Target="/ppt/notesSlides/notesSlide9.xml" Id="R1adacbf6898144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1477b59dc24ab8" /><Relationship Type="http://schemas.openxmlformats.org/officeDocument/2006/relationships/notesSlide" Target="/ppt/notesSlides/notesSlide10.xml" Id="Rf921f57ff0f94f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F361C6-54A0-4CAF-8F0E-4D12062F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D9D7E-D5BA-4D08-B328-F0D3F05A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rPr>
              <a:t>상속세 신고 체크리스트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C08D7-8828-4FBE-B088-73A21942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900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상속세 신고 전</a:t>
            </a:r>
          </a:p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꼭 확인할 7가지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50DDB-DD55-4335-A908-A897D524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1428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B66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7F1B3-4036-4428-A26A-23059313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0957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6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DEC9B-3311-4316-8ADE-731FABFF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448175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6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2AF8E-89CE-4E73-B027-AFE3008C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8006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6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FA79D-34FB-4669-842E-453876C8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9048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rPr>
              <a:t>상속이 발생했다면</a:t>
            </a:r>
          </a:p>
          <a:p xmlns:a="http://schemas.openxmlformats.org/drawingml/2006/main">
            <a:pPr>
              <a:def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rPr>
              <a:t>세금부터 내기 전에 확인하세요.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1D3D1-8FBB-4CA3-8CE0-2FAD5635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2425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550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defRPr>
            </a:pPr>
            <a:r>
              <a:rPr sz="14550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E152A-243D-4E09-AD6E-522562F1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63025"/>
            <a:ext cx="891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7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F9B968-CC31-4B24-BFCC-7359A9B5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77350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김포세무회계사무소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BD6787-6002-4F07-9636-A7E7313D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93154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8B66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D8B66B"/>
                </a:solidFill>
                <a:latin typeface="Malgun Gothic"/>
                <a:ea typeface="Malgun Gothic"/>
                <a:cs typeface="Malgun Gothic"/>
              </a:rPr>
              <a:t>01 / 10</a:t>
            </a:r>
          </a:p>
        </p:txBody>
      </p:sp>
    </p:spTree>
    <p:extLst>
      <p:ext uri="{BB962C8B-B14F-4D97-AF65-F5344CB8AC3E}">
        <p14:creationId xmlns:p14="http://schemas.microsoft.com/office/powerpoint/2010/main" val="1420283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4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3949F9-824F-46FD-AD6E-B8120041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75FB99-F070-4340-AF2E-33C0C9BA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rPr>
              <a:t>01  상속재산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0D84B-7061-46A0-85B5-78A40099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900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상속재산을</a:t>
            </a:r>
          </a:p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빠짐없이 확인하세요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D9922-1D65-44C6-9603-AFB6C95F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1666875" cy="809625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B66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4DEB9-ACCE-429C-AD01-A53518E6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38650"/>
            <a:ext cx="11811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B66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F8189A-4CAF-4FE5-BFA5-EB157F02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19650"/>
            <a:ext cx="285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B66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92E24-3CE2-414E-96B9-A1E22B14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9048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rPr>
              <a:t>예금 · 주식 · 보험금 · 차량 · 회원권 등</a:t>
            </a:r>
          </a:p>
          <a:p xmlns:a="http://schemas.openxmlformats.org/drawingml/2006/main">
            <a:pPr>
              <a:def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rPr>
              <a:t>다양한 재산이 상속재산에 포함될 수 있습니다.</a:t>
            </a:r>
          </a:p>
          <a:p xmlns:a="http://schemas.openxmlformats.org/drawingml/2006/main">
            <a:pPr>
              <a:def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rPr>
              <a:t>먼저 전체 재산을 정확하게 파악하세요.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950576-F74D-4FDD-B21B-2440D1FB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05250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050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defRPr>
            </a:pPr>
            <a:r>
              <a:rPr sz="10050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CEC94C-2266-4765-8536-5BA1334A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63025"/>
            <a:ext cx="891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7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857D7-A5EF-4955-AFDF-841CD254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77350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김포세무회계사무소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9FFDF-447E-44B9-B20A-4DA1CBCA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93154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8B66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D8B66B"/>
                </a:solidFill>
                <a:latin typeface="Malgun Gothic"/>
                <a:ea typeface="Malgun Gothic"/>
                <a:cs typeface="Malgun Gothic"/>
              </a:rPr>
              <a:t>02 / 10</a:t>
            </a:r>
          </a:p>
        </p:txBody>
      </p:sp>
    </p:spTree>
    <p:extLst>
      <p:ext uri="{BB962C8B-B14F-4D97-AF65-F5344CB8AC3E}">
        <p14:creationId xmlns:p14="http://schemas.microsoft.com/office/powerpoint/2010/main" val="255903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24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50AD2-02FB-4B9A-9829-BFDCC08F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FE0CD-2EDE-458A-A17A-ED667988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rPr>
              <a:t>02  사전증여재산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6750F-04CA-4411-B2C7-5C0EA618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900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과거에 증여받은</a:t>
            </a:r>
          </a:p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재산도 확인하세요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9960D-25FB-4E7D-95D1-9377D59F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1571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B66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6EB25-3CBE-4577-89A6-21897A59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B66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D1ACDA-5D6D-4A81-90A9-5FBC097A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190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6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D2265A-5C43-4EF3-AA15-622AACE7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9048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rPr>
              <a:t>상속 직전의 증여도 확인이 필요합니다.</a:t>
            </a:r>
          </a:p>
          <a:p xmlns:a="http://schemas.openxmlformats.org/drawingml/2006/main">
            <a:pPr>
              <a:def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rPr>
              <a:t>과거 증여재산 중 일부는</a:t>
            </a:r>
          </a:p>
          <a:p xmlns:a="http://schemas.openxmlformats.org/drawingml/2006/main">
            <a:pPr>
              <a:def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rPr>
              <a:t>상속세 계산 시 합산될 수 있습니다.</a:t>
            </a:r>
          </a:p>
          <a:p xmlns:a="http://schemas.openxmlformats.org/drawingml/2006/main">
            <a:pPr>
              <a:def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rPr>
              <a:t>과거 증여내역까지 함께 검토하세요.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0C48A-B1B7-4694-9858-62E3CB12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05250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050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defRPr>
            </a:pPr>
            <a:r>
              <a:rPr sz="10050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502797-900A-43AD-AEBF-79EA219B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63025"/>
            <a:ext cx="891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7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71D84E-DABF-4C42-90FC-2253D8A5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77350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김포세무회계사무소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910CDE-BE3E-47A6-81E8-BB9A9617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93154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8B66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D8B66B"/>
                </a:solidFill>
                <a:latin typeface="Malgun Gothic"/>
                <a:ea typeface="Malgun Gothic"/>
                <a:cs typeface="Malgun Gothic"/>
              </a:rPr>
              <a:t>03 / 10</a:t>
            </a:r>
          </a:p>
        </p:txBody>
      </p:sp>
    </p:spTree>
    <p:extLst>
      <p:ext uri="{BB962C8B-B14F-4D97-AF65-F5344CB8AC3E}">
        <p14:creationId xmlns:p14="http://schemas.microsoft.com/office/powerpoint/2010/main" val="11532356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4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1DDAC1-34E8-48E3-86CF-3D1EEA2B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2AD45-F01C-41D8-898F-B2901258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rPr>
              <a:t>03  채무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D6543-3180-4552-81CB-C52E3197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900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피상속인의</a:t>
            </a:r>
          </a:p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채무도 확인하세요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07CDD-4347-4AA6-90CC-6CF0151F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1428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B66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820D8-F171-40D1-B5A5-C7D15804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0957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6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A085A-2DEB-43CC-AD4C-11DC1A49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448175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6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471CA-6A41-47FE-A607-A4366603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8006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6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C59AEE-6C1F-4B91-A199-79490380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9048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rPr>
              <a:t>금융기관 대출 · 임대보증금 · 미지급금 등</a:t>
            </a:r>
          </a:p>
          <a:p xmlns:a="http://schemas.openxmlformats.org/drawingml/2006/main">
            <a:pPr>
              <a:def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rPr>
              <a:t>피상속인이 부담하던 채무를 확인하세요.</a:t>
            </a:r>
          </a:p>
          <a:p xmlns:a="http://schemas.openxmlformats.org/drawingml/2006/main">
            <a:pPr>
              <a:def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rPr>
              <a:t>일정 요건을 충족하면</a:t>
            </a:r>
          </a:p>
          <a:p xmlns:a="http://schemas.openxmlformats.org/drawingml/2006/main">
            <a:pPr>
              <a:def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rPr>
              <a:t>상속재산에서 차감할 수 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AA8A51-7E99-405A-94F9-E0994EE8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05250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050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defRPr>
            </a:pPr>
            <a:r>
              <a:rPr sz="10050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DA80F-9E34-4AD0-8196-70E647D3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63025"/>
            <a:ext cx="891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7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45DFEA-1E58-4CED-B5BF-C44E6271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77350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김포세무회계사무소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C977A1-6AB7-488D-AE64-DB78273F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93154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8B66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D8B66B"/>
                </a:solidFill>
                <a:latin typeface="Malgun Gothic"/>
                <a:ea typeface="Malgun Gothic"/>
                <a:cs typeface="Malgun Gothic"/>
              </a:rPr>
              <a:t>04 / 10</a:t>
            </a:r>
          </a:p>
        </p:txBody>
      </p:sp>
    </p:spTree>
    <p:extLst>
      <p:ext uri="{BB962C8B-B14F-4D97-AF65-F5344CB8AC3E}">
        <p14:creationId xmlns:p14="http://schemas.microsoft.com/office/powerpoint/2010/main" val="18680016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4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4F69F-4178-4A5A-8D19-0D6541C8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661DA-E0FC-46CB-BA00-3D7C0AC2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rPr>
              <a:t>04  장례비 증빙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8A620-91BB-4AB6-93E7-3AC1D724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900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장례비용도</a:t>
            </a:r>
          </a:p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자료를 챙기세요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0844D-9EAB-4B64-9BF0-F88DD404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1428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B66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85740-E14E-4177-887D-69948FE0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0957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6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58F35-A92C-470E-B7C7-9BC14A88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448175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6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2B46E-EADC-4182-9135-494590E1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8006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6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C8793-5EB1-4151-AAF7-A2E50706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9048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rPr>
              <a:t>장례비도 상속세 계산에 영향을 줄 수 있습니다.</a:t>
            </a:r>
          </a:p>
          <a:p xmlns:a="http://schemas.openxmlformats.org/drawingml/2006/main">
            <a:pPr>
              <a:def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rPr>
              <a:t>장례식장 비용 등 관련 자료를 챙기세요.</a:t>
            </a:r>
          </a:p>
          <a:p xmlns:a="http://schemas.openxmlformats.org/drawingml/2006/main">
            <a:pPr>
              <a:def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rPr>
              <a:t>영수증과 계좌이체 내역을 보관하세요.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969B22-EB50-44D3-9F5F-0F768B23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05250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050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defRPr>
            </a:pPr>
            <a:r>
              <a:rPr sz="10050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27221-F4EA-4ADE-93A4-4FF9E915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63025"/>
            <a:ext cx="891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7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9C1DC3-95D6-46B9-9FFF-CA066B2E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77350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김포세무회계사무소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7A812-5BD2-469B-8CE6-85FD495F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93154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8B66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D8B66B"/>
                </a:solidFill>
                <a:latin typeface="Malgun Gothic"/>
                <a:ea typeface="Malgun Gothic"/>
                <a:cs typeface="Malgun Gothic"/>
              </a:rPr>
              <a:t>05 / 10</a:t>
            </a:r>
          </a:p>
        </p:txBody>
      </p:sp>
    </p:spTree>
    <p:extLst>
      <p:ext uri="{BB962C8B-B14F-4D97-AF65-F5344CB8AC3E}">
        <p14:creationId xmlns:p14="http://schemas.microsoft.com/office/powerpoint/2010/main" val="10380250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4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DC3F71-822B-4849-9A26-CB6DDC68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9C1EC-2762-40C8-B074-713AB9F3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rPr>
              <a:t>05  배우자 공제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2E76F-2963-4FC0-A514-6B899743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900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배우자가 있다면</a:t>
            </a:r>
          </a:p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공제를 확인하세요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1E43D-E3E8-4796-872B-CFC92EF7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476250" cy="476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B66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8444A-97ED-4AF6-A497-26EA4957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714750"/>
            <a:ext cx="476250" cy="476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B66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C4850-55A0-4442-B300-B3F9026B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714375" cy="904875"/>
          </a:xfrm>
          <a:prstGeom xmlns:a="http://schemas.openxmlformats.org/drawingml/2006/main" prst="roundRect">
            <a:avLst>
              <a:gd name="adj" fmla="val 10667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D8B66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AB6340-33E2-42F4-BD22-429DEC5D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43400"/>
            <a:ext cx="714375" cy="904875"/>
          </a:xfrm>
          <a:prstGeom xmlns:a="http://schemas.openxmlformats.org/drawingml/2006/main" prst="roundRect">
            <a:avLst>
              <a:gd name="adj" fmla="val 10667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D8B66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83C80-7DC4-42B3-B0F0-24C51C96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9048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rPr>
              <a:t>배우자가 실제로 상속받는 재산에 따라</a:t>
            </a:r>
          </a:p>
          <a:p xmlns:a="http://schemas.openxmlformats.org/drawingml/2006/main">
            <a:pPr>
              <a:def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rPr>
              <a:t>상속세 부담이 크게 달라질 수 있습니다.</a:t>
            </a:r>
          </a:p>
          <a:p xmlns:a="http://schemas.openxmlformats.org/drawingml/2006/main">
            <a:pPr>
              <a:def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rPr>
              <a:t>상속인별 재산 배분과 세금효과를</a:t>
            </a:r>
          </a:p>
          <a:p xmlns:a="http://schemas.openxmlformats.org/drawingml/2006/main">
            <a:pPr>
              <a:def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rPr>
              <a:t>함께 비교하는 것이 중요합니다.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7E4C44-314A-4951-B954-3E3A4186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05250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050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defRPr>
            </a:pPr>
            <a:r>
              <a:rPr sz="10050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09A16-7DB3-4E20-9433-B8233E3B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63025"/>
            <a:ext cx="891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7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010CB9-3C9C-45BF-A33B-52C32685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77350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김포세무회계사무소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7995E1-6653-499F-817E-98D0E7EE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93154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8B66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D8B66B"/>
                </a:solidFill>
                <a:latin typeface="Malgun Gothic"/>
                <a:ea typeface="Malgun Gothic"/>
                <a:cs typeface="Malgun Gothic"/>
              </a:rPr>
              <a:t>06 / 10</a:t>
            </a:r>
          </a:p>
        </p:txBody>
      </p:sp>
    </p:spTree>
    <p:extLst>
      <p:ext uri="{BB962C8B-B14F-4D97-AF65-F5344CB8AC3E}">
        <p14:creationId xmlns:p14="http://schemas.microsoft.com/office/powerpoint/2010/main" val="4697522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4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872D93-CE72-49EA-9B5F-1EBDB8EA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D3205-9C83-44BF-AD17-CAB13107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rPr>
              <a:t>06  금융재산 검토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AFADC-6EAF-486F-A620-B35EDDF8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900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금융재산도</a:t>
            </a:r>
          </a:p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별도로 검토하세요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B37EE-0345-4A07-AE24-732BAE87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904875" cy="90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B"/>
          </a:solidFill>
          <a:ln xmlns:a="http://schemas.openxmlformats.org/drawingml/2006/main" w="38100">
            <a:solidFill>
              <a:srgbClr val="D8B66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59B182-636E-4133-9477-5294481E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191000"/>
            <a:ext cx="904875" cy="90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B"/>
          </a:solidFill>
          <a:ln xmlns:a="http://schemas.openxmlformats.org/drawingml/2006/main" w="38100">
            <a:solidFill>
              <a:srgbClr val="D8B66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1D6EC-C315-4762-A1CA-816DE41B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05250"/>
            <a:ext cx="904875" cy="90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B"/>
          </a:solidFill>
          <a:ln xmlns:a="http://schemas.openxmlformats.org/drawingml/2006/main" w="38100">
            <a:solidFill>
              <a:srgbClr val="D8B66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9A560-0036-4D51-85A0-F081E9BA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0527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rPr>
              <a:t>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DB961F-F5C8-4DED-8EE9-0324A3F5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9048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rPr>
              <a:t>예금 · 적금 · 주식 · 펀드 등이 있다면</a:t>
            </a:r>
          </a:p>
          <a:p xmlns:a="http://schemas.openxmlformats.org/drawingml/2006/main">
            <a:pPr>
              <a:def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rPr>
              <a:t>적용 가능한 금융재산 관련 공제를</a:t>
            </a:r>
          </a:p>
          <a:p xmlns:a="http://schemas.openxmlformats.org/drawingml/2006/main">
            <a:pPr>
              <a:def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rPr>
              <a:t>확인할 필요가 있습니다.</a:t>
            </a:r>
          </a:p>
          <a:p xmlns:a="http://schemas.openxmlformats.org/drawingml/2006/main">
            <a:pPr>
              <a:def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rPr>
              <a:t>금융재산과 금융채무를 함께 검토하세요.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C07E8-AFE2-423D-B628-2801BFB6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05250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050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defRPr>
            </a:pPr>
            <a:r>
              <a:rPr sz="10050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592068-D912-4DAA-A5A8-A2400AB8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63025"/>
            <a:ext cx="891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7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99DF86-EFDC-4720-83D3-60E91238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77350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김포세무회계사무소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443F6-F57C-4769-A391-1D96F5B6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93154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8B66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D8B66B"/>
                </a:solidFill>
                <a:latin typeface="Malgun Gothic"/>
                <a:ea typeface="Malgun Gothic"/>
                <a:cs typeface="Malgun Gothic"/>
              </a:rPr>
              <a:t>07 / 10</a:t>
            </a:r>
          </a:p>
        </p:txBody>
      </p:sp>
    </p:spTree>
    <p:extLst>
      <p:ext uri="{BB962C8B-B14F-4D97-AF65-F5344CB8AC3E}">
        <p14:creationId xmlns:p14="http://schemas.microsoft.com/office/powerpoint/2010/main" val="10418516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4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B31939-9E66-4DED-BC1C-99F52350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DFBFE-DDA4-42BB-941B-163A4898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rPr>
              <a:t>07  부동산 평가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20162-D33E-475C-8340-52231298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900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부동산은</a:t>
            </a:r>
          </a:p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평가금액이 중요합니다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C99D7-AD6C-4EC0-8F47-7C63EAB6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1666875" cy="809625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B66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C9EEF8-24CB-4987-8FFB-AA04AF63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38650"/>
            <a:ext cx="11811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B66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FE425-07F6-455C-9E35-7A4BC5B2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19650"/>
            <a:ext cx="285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B66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DF836-984D-48C5-ABBB-BD1EEE80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9048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rPr>
              <a:t>부동산의 평가금액이 세금 계산에 중요합니다.</a:t>
            </a:r>
          </a:p>
          <a:p xmlns:a="http://schemas.openxmlformats.org/drawingml/2006/main">
            <a:pPr>
              <a:def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rPr>
              <a:t>공시가격만 보고 판단하면</a:t>
            </a:r>
          </a:p>
          <a:p xmlns:a="http://schemas.openxmlformats.org/drawingml/2006/main">
            <a:pPr>
              <a:def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rPr>
              <a:t>실제 세금 계산과 차이가 발생할 수 있습니다.</a:t>
            </a:r>
          </a:p>
          <a:p xmlns:a="http://schemas.openxmlformats.org/drawingml/2006/main">
            <a:pPr>
              <a:def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rPr>
              <a:t>최근 매매사례와 평가방법도 확인하세요.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C4560A-36B7-46C7-B79C-2AADFDAE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05250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050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defRPr>
            </a:pPr>
            <a:r>
              <a:rPr sz="10050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A6F80-BFE3-45DB-AAB9-EC601BA9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63025"/>
            <a:ext cx="891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7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6C19FC-38C7-4B9B-BB56-4FA8561F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77350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김포세무회계사무소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0FBACE-F60E-4A86-B0E8-9CF11D3E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93154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8B66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D8B66B"/>
                </a:solidFill>
                <a:latin typeface="Malgun Gothic"/>
                <a:ea typeface="Malgun Gothic"/>
                <a:cs typeface="Malgun Gothic"/>
              </a:rPr>
              <a:t>08 / 10</a:t>
            </a:r>
          </a:p>
        </p:txBody>
      </p:sp>
    </p:spTree>
    <p:extLst>
      <p:ext uri="{BB962C8B-B14F-4D97-AF65-F5344CB8AC3E}">
        <p14:creationId xmlns:p14="http://schemas.microsoft.com/office/powerpoint/2010/main" val="2153910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4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3D0146-D52F-4120-A509-11A68075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1A97A-A281-4C21-A135-4B60B805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rPr>
              <a:t>신고 전 핵심 정리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76C5E-7FCF-43E5-BDFB-513B7DC7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900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상속세는 신고 전에</a:t>
            </a:r>
          </a:p>
          <a:p xmlns:a="http://schemas.openxmlformats.org/drawingml/2006/main">
            <a:pPr>
              <a:defRPr sz="3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준비하는 것이 중요합니다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BD48B-0E60-494E-8B9B-9D574A65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1428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B66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77CC0-ECE1-42ED-AE5A-29EC8980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0957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6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A3BF1-4501-4083-B500-4781D50D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448175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6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F2AACC-B86D-4F26-97F0-FBC4B21D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8006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6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4009D-B69B-43B1-BA64-90D778F3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9048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rPr>
              <a:t>상속재산 확인   /   사전증여 확인</a:t>
            </a:r>
          </a:p>
          <a:p xmlns:a="http://schemas.openxmlformats.org/drawingml/2006/main">
            <a:pPr>
              <a:def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rPr>
              <a:t>채무 확인   /   장례비 증빙</a:t>
            </a:r>
          </a:p>
          <a:p xmlns:a="http://schemas.openxmlformats.org/drawingml/2006/main">
            <a:pPr>
              <a:def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rPr>
              <a:t>배우자 공제 검토   /   금융재산 검토</a:t>
            </a:r>
          </a:p>
          <a:p xmlns:a="http://schemas.openxmlformats.org/drawingml/2006/main">
            <a:pPr>
              <a:def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rPr>
              <a:t>부동산 평가 검토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1489B-3421-4035-8A2C-CBD74358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624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rPr>
              <a:t>7가지 체크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8EA11C-1A27-4B42-8DF8-92E53D18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63025"/>
            <a:ext cx="891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7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F6AC6E-C4AD-4A92-BB05-1BBC7531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77350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김포세무회계사무소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63713B-13CF-4153-9CAE-1452B82F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93154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8B66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D8B66B"/>
                </a:solidFill>
                <a:latin typeface="Malgun Gothic"/>
                <a:ea typeface="Malgun Gothic"/>
                <a:cs typeface="Malgun Gothic"/>
              </a:rPr>
              <a:t>09 / 10</a:t>
            </a:r>
          </a:p>
        </p:txBody>
      </p:sp>
    </p:spTree>
    <p:extLst>
      <p:ext uri="{BB962C8B-B14F-4D97-AF65-F5344CB8AC3E}">
        <p14:creationId xmlns:p14="http://schemas.microsoft.com/office/powerpoint/2010/main" val="3355561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4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DE227F-E85A-49BC-9456-BE9301C4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3E1096-CAD3-4BDA-8525-10DFCA86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rPr>
              <a:t>김포세무회계사무소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25FD1-ECEB-4207-B8E7-34DD500E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900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상속세, 혼자</a:t>
            </a:r>
          </a:p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판단하기 어려우신가요?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FDD080-C321-4212-903D-3FF20CA8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1428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B66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CB930-4C75-4407-977D-D86681D3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0957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6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AEBAE-8A9E-446D-AECC-1CA70FC5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448175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6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723FF-0777-4101-A59E-277C6216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8006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6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4DE426-5F0B-4864-BF0E-5C058D41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9048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rPr>
              <a:t>상속재산 파악부터 상속세 계산 · 신고까지</a:t>
            </a:r>
          </a:p>
          <a:p xmlns:a="http://schemas.openxmlformats.org/drawingml/2006/main">
            <a:pPr>
              <a:def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rPr>
              <a:t>체계적으로 검토해 드립니다.</a:t>
            </a:r>
          </a:p>
          <a:p xmlns:a="http://schemas.openxmlformats.org/drawingml/2006/main">
            <a:pPr>
              <a:def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rPr>
              <a:t>상속 · 증여 · 양도소득세</a:t>
            </a:r>
          </a:p>
          <a:p xmlns:a="http://schemas.openxmlformats.org/drawingml/2006/main">
            <a:pPr>
              <a:def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C6D0DC"/>
                </a:solidFill>
                <a:latin typeface="Malgun Gothic"/>
                <a:ea typeface="Malgun Gothic"/>
                <a:cs typeface="Malgun Gothic"/>
              </a:rPr>
              <a:t>법인세 · 종합소득세 · 세무상담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47F7DF-23EB-428D-9149-76684BD0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624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D8B66B"/>
                </a:solidFill>
                <a:latin typeface="Malgun Gothic"/>
                <a:ea typeface="Malgun Gothic"/>
                <a:cs typeface="Malgun Gothic"/>
              </a:rPr>
              <a:t>세무상담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209C46-F133-42C9-93F9-5C2FB326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63025"/>
            <a:ext cx="891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7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3A8F4B-FD20-4120-A538-8767A1EA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77350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김포세무회계사무소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3E4A87-4624-4FBF-8CFA-33BFA23D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93154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8B66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D8B66B"/>
                </a:solidFill>
                <a:latin typeface="Malgun Gothic"/>
                <a:ea typeface="Malgun Gothic"/>
                <a:cs typeface="Malgun Gothic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13928029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2026-10-06T13:02:33.4120000Z</dcterms:created>
  <dcterms:modified xsi:type="dcterms:W3CDTF">2026-10-06T13:02:33.4120000Z</dcterms:modified>
</coreProperties>
</file>