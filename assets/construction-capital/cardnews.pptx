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03504"/>
            <a:ext cx="2487168" cy="384048"/>
          </a:xfrm>
          <a:prstGeom prst="roundRect">
            <a:avLst>
              <a:gd name="adj" fmla="val 35714"/>
            </a:avLst>
          </a:prstGeom>
          <a:solidFill>
            <a:srgbClr val="C8A45A"/>
          </a:solidFill>
          <a:ln w="12700">
            <a:solidFill>
              <a:srgbClr val="C8A45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0350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건설업 기업진단 카드뉴스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실질자본금이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부족해지는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318211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5가지 사례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21792" y="425196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6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장부상 자본금이 충분해 보여도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DFE6E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기업진단에서는 부족할 수 있습니다.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40680" y="5623560"/>
            <a:ext cx="297180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57241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재무제표상 자본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6373368"/>
            <a:ext cx="2240280" cy="640080"/>
          </a:xfrm>
          <a:prstGeom prst="roundRect">
            <a:avLst>
              <a:gd name="adj" fmla="val 21429"/>
            </a:avLst>
          </a:prstGeom>
          <a:solidFill>
            <a:srgbClr val="C8A45A"/>
          </a:solidFill>
          <a:ln w="12700">
            <a:solidFill>
              <a:srgbClr val="C8A4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61888" y="64830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부실·겸업자산 차감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7132320"/>
            <a:ext cx="1463040" cy="685800"/>
          </a:xfrm>
          <a:prstGeom prst="roundRect">
            <a:avLst>
              <a:gd name="adj" fmla="val 20000"/>
            </a:avLst>
          </a:prstGeom>
          <a:solidFill>
            <a:srgbClr val="FCECEC"/>
          </a:solidFill>
          <a:ln w="1270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726033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실질자본금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81838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95160" y="8183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BEC9D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2026.10 기준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“장부상 자본”과 “실질자본”은 다릅니다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764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기업진단에서는 자산의 실재성·회수가능성·건설업 관련성을 다시 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8010144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077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실질자본금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99232" y="288950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520440" y="2907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실질자산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288950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833872" y="29077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실질부채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3685032"/>
            <a:ext cx="7178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회사제시자산에서 부실자산·수정사항을 반영한 금액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800600"/>
            <a:ext cx="8010144" cy="2514600"/>
          </a:xfrm>
          <a:prstGeom prst="roundRect">
            <a:avLst>
              <a:gd name="adj" fmla="val 5455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74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실무에서 자주 빠지는 항목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55961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81328" y="5586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가지급금·대여금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59070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81328" y="58978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미수금·선급금 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6217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81328" y="620877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증빙 없는 예금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65288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1328" y="65196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장기성·부실채권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68397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81328" y="68305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겸업·무형·소유불명 자산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77083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아래 5가지만 먼저 점검해도 위험 신호를 빠르게 찾을 수 있습니다.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8659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  ·  건설업 기업진단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86227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978408"/>
            <a:ext cx="786384" cy="786384"/>
          </a:xfrm>
          <a:prstGeom prst="roundRect">
            <a:avLst>
              <a:gd name="adj" fmla="val 17442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14984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420624" cy="0"/>
          </a:xfrm>
          <a:prstGeom prst="line">
            <a:avLst/>
          </a:prstGeom>
          <a:noFill/>
          <a:ln w="38100">
            <a:solidFill>
              <a:srgbClr val="C8A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93268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가지급금·대여금이 쌓여 있는 경우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72768" y="1490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대표자·주주·관계회사에 돈이 나가 있다면 가장 먼저 확인하세요.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8010144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문제가 될까요?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7824" y="3054096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3017520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재무제표에는 자산으로 잡혀 있어 자본총계가 커 보일 수 있습니다.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77824" y="3675888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75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기업진단에서는 가지급금·대여금이 원칙적으로 부실자산에 포함될 수 있습니다.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" y="4297680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CECEC"/>
          </a:solidFill>
          <a:ln w="1270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4261104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부실자산으로 빠지면 그 금액만큼 실질자본금이 직접 감소합니다.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5559552"/>
            <a:ext cx="8010144" cy="1371600"/>
          </a:xfrm>
          <a:prstGeom prst="roundRect">
            <a:avLst>
              <a:gd name="adj" fmla="val 10000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7881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보면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619048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장부상 자본 3억원 − 가지급금 1억원 → 실질자본 2억원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66928" y="7242048"/>
            <a:ext cx="8010144" cy="960120"/>
          </a:xfrm>
          <a:prstGeom prst="roundRect">
            <a:avLst>
              <a:gd name="adj" fmla="val 14286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7479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 체크 포인트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12848" y="742492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결산 전에 회수 여부·거래 실재성·예외 인정 증빙을 확인하세요.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8659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  ·  건설업 기업진단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86227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978408"/>
            <a:ext cx="786384" cy="786384"/>
          </a:xfrm>
          <a:prstGeom prst="roundRect">
            <a:avLst>
              <a:gd name="adj" fmla="val 17442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124712"/>
            <a:ext cx="3474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243584"/>
            <a:ext cx="219456" cy="0"/>
          </a:xfrm>
          <a:prstGeom prst="line">
            <a:avLst/>
          </a:prstGeom>
          <a:noFill/>
          <a:ln w="19050">
            <a:solidFill>
              <a:srgbClr val="C8A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344168"/>
            <a:ext cx="219456" cy="0"/>
          </a:xfrm>
          <a:prstGeom prst="line">
            <a:avLst/>
          </a:prstGeom>
          <a:noFill/>
          <a:ln w="19050">
            <a:solidFill>
              <a:srgbClr val="C8A4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444752"/>
            <a:ext cx="219456" cy="0"/>
          </a:xfrm>
          <a:prstGeom prst="line">
            <a:avLst/>
          </a:prstGeom>
          <a:noFill/>
          <a:ln w="19050">
            <a:solidFill>
              <a:srgbClr val="C8A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93268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미수금·미수수익·선급금이 큰 경우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572768" y="1490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“받을 돈”과 “미리 낸 돈”이 많다고 모두 실질자산은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240280"/>
            <a:ext cx="8010144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문제가 될까요?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7824" y="3054096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017520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미수금·미수수익·선급금·선급비용 등은 진단지침상 부실자산 검토 대상입니다.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7824" y="3675888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675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639312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계약서·세금계산서·입금내역 등으로 실재성과 회수가능성을 설명해야 합니다.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7824" y="4297680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CECEC"/>
          </a:solidFill>
          <a:ln w="1270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34440" y="4261104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증빙이 약하면 장부상 자산이 그대로 인정되지 않아 실질자본이 줄어듭니다.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5559552"/>
            <a:ext cx="8010144" cy="1371600"/>
          </a:xfrm>
          <a:prstGeom prst="roundRect">
            <a:avLst>
              <a:gd name="adj" fmla="val 10000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7881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보면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619048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미수금 7천만원이 불인정되면 → 실질자본도 7천만원 감소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66928" y="7242048"/>
            <a:ext cx="8010144" cy="960120"/>
          </a:xfrm>
          <a:prstGeom prst="roundRect">
            <a:avLst>
              <a:gd name="adj" fmla="val 14286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7479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 체크 포인트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12848" y="742492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오래된 채권은 거래처·발생원인·회수내역을 미리 정리하세요.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8659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  ·  건설업 기업진단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86227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978408"/>
            <a:ext cx="786384" cy="786384"/>
          </a:xfrm>
          <a:prstGeom prst="roundRect">
            <a:avLst>
              <a:gd name="adj" fmla="val 17442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200000">
            <a:off x="731520" y="1088136"/>
            <a:ext cx="457200" cy="20116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316736"/>
            <a:ext cx="0" cy="2468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316736"/>
            <a:ext cx="0" cy="2468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316736"/>
            <a:ext cx="0" cy="24688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91056"/>
            <a:ext cx="457200" cy="0"/>
          </a:xfrm>
          <a:prstGeom prst="line">
            <a:avLst/>
          </a:prstGeom>
          <a:noFill/>
          <a:ln w="38100">
            <a:solidFill>
              <a:srgbClr val="C8A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93268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예금 잔액만 맞춰 놓은 경우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572768" y="1490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결산일 하루의 통장잔액만으로는 충분하지 않을 수 있습니다.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8010144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문제가 될까요?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77824" y="3054096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3017520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예금은 진단기준일 전후 거래실적과 실제 보유 여부를 확인합니다.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" y="3675888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675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3639312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결산 직전 일시 입금했다가 바로 빠져나간 자금은 위험 신호가 될 수 있습니다.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77824" y="4297680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CECEC"/>
          </a:solidFill>
          <a:ln w="1270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4261104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금융거래 증빙을 제시하지 못하면 예금이 실질자산으로 인정되지 않을 수 있습니다.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5559552"/>
            <a:ext cx="8010144" cy="1371600"/>
          </a:xfrm>
          <a:prstGeom prst="roundRect">
            <a:avLst>
              <a:gd name="adj" fmla="val 10000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7881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보면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619048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결산일 2억원 예금 ≠ 언제나 실질자산 2억원 인정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566928" y="7242048"/>
            <a:ext cx="8010144" cy="960120"/>
          </a:xfrm>
          <a:prstGeom prst="roundRect">
            <a:avLst>
              <a:gd name="adj" fmla="val 14286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7479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 체크 포인트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12848" y="742492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은행 거래실적증명과 자금 원천을 결산 전에 준비하세요.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8659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  ·  건설업 기업진단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38160" y="86227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978408"/>
            <a:ext cx="786384" cy="786384"/>
          </a:xfrm>
          <a:prstGeom prst="roundRect">
            <a:avLst>
              <a:gd name="adj" fmla="val 17442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15568"/>
            <a:ext cx="457200" cy="4572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234440"/>
            <a:ext cx="0" cy="137160"/>
          </a:xfrm>
          <a:prstGeom prst="line">
            <a:avLst/>
          </a:prstGeom>
          <a:noFill/>
          <a:ln w="25400">
            <a:solidFill>
              <a:srgbClr val="C8A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371600"/>
            <a:ext cx="109728" cy="73152"/>
          </a:xfrm>
          <a:prstGeom prst="line">
            <a:avLst/>
          </a:prstGeom>
          <a:noFill/>
          <a:ln w="25400">
            <a:solidFill>
              <a:srgbClr val="C8A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2768" y="93268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장기성 매출채권·부도어음이 많은 경우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572768" y="1490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회수 가능성이 낮은 채권은 자산가치가 그대로 인정되지 않습니다.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240280"/>
            <a:ext cx="8010144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문제가 될까요?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7824" y="3054096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3017520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장기성 매출채권·부도어음·대손처리 대상 자산은 부실자산 검토 대상입니다.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7824" y="3675888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675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3639312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오래된 공사미수금은 발주처·회수기일·분쟁 여부에 따라 판단이 달라질 수 있습니다.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7824" y="4297680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CECEC"/>
          </a:solidFill>
          <a:ln w="1270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4261104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회수 근거가 부족하면 실질자산에서 제외되어 자본금 기준 미달로 이어질 수 있습니다.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5559552"/>
            <a:ext cx="8010144" cy="1371600"/>
          </a:xfrm>
          <a:prstGeom prst="roundRect">
            <a:avLst>
              <a:gd name="adj" fmla="val 10000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7881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보면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619048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오래된 채권 1억원 불인정 → 실질자본 1억원 감소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66928" y="7242048"/>
            <a:ext cx="8010144" cy="960120"/>
          </a:xfrm>
          <a:prstGeom prst="roundRect">
            <a:avLst>
              <a:gd name="adj" fmla="val 14286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7479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 체크 포인트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12848" y="742492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공사계약서·기성확인·채권회수 내역을 함께 보관하세요.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8659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  ·  건설업 기업진단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86227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978408"/>
            <a:ext cx="786384" cy="786384"/>
          </a:xfrm>
          <a:prstGeom prst="roundRect">
            <a:avLst>
              <a:gd name="adj" fmla="val 17442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43000"/>
            <a:ext cx="438912" cy="20116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325880"/>
            <a:ext cx="438912" cy="201168"/>
          </a:xfrm>
          <a:prstGeom prst="parallelogram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932688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겸업자산·무형자산·소유불명 자산이 있는 경우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72768" y="149047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건설업과 직접 관련 없는 자산은 자본금 계산에서 제외될 수 있습니다.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8010144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문제가 될까요?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77824" y="3054096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3017520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겸업사업에 제공된 자산은 건설업 실질자본 산정에서 별도 조정될 수 있습니다.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77824" y="3675888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5EBD7"/>
          </a:solidFill>
          <a:ln w="12700">
            <a:solidFill>
              <a:srgbClr val="F5EBD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75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무형자산이나 회사가 법적·실질적으로 소유하지 않는 자산도 부실자산 검토 대상입니다.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" y="4297680"/>
            <a:ext cx="228600" cy="228600"/>
          </a:xfrm>
          <a:prstGeom prst="roundRect">
            <a:avLst>
              <a:gd name="adj" fmla="val 60000"/>
            </a:avLst>
          </a:prstGeom>
          <a:solidFill>
            <a:srgbClr val="FCECEC"/>
          </a:solidFill>
          <a:ln w="12700">
            <a:solidFill>
              <a:srgbClr val="FCECE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297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4261104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“재무제표에 있다”는 이유만으로 건설업 실질자산이 되는 것은 아닙니다.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5559552"/>
            <a:ext cx="8010144" cy="1371600"/>
          </a:xfrm>
          <a:prstGeom prst="roundRect">
            <a:avLst>
              <a:gd name="adj" fmla="val 10000"/>
            </a:avLst>
          </a:prstGeom>
          <a:solidFill>
            <a:srgbClr val="12233D"/>
          </a:solidFill>
          <a:ln w="12700">
            <a:solidFill>
              <a:srgbClr val="1223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7881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보면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6190488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건설업 외 자산 8천만원 제외 → 실질자본 8천만원 감소 가능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66928" y="7242048"/>
            <a:ext cx="8010144" cy="960120"/>
          </a:xfrm>
          <a:prstGeom prst="roundRect">
            <a:avLst>
              <a:gd name="adj" fmla="val 14286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7479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C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 체크 포인트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12848" y="7424928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23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업종별 자산·부채를 구분하고 소유권·사업 관련성을 입증하세요.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8659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  ·  건설업 기업진단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38160" y="86227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1444752" cy="384048"/>
          </a:xfrm>
          <a:prstGeom prst="roundRect">
            <a:avLst>
              <a:gd name="adj" fmla="val 35714"/>
            </a:avLst>
          </a:prstGeom>
          <a:solidFill>
            <a:srgbClr val="C8A45A"/>
          </a:solidFill>
          <a:ln w="12700">
            <a:solidFill>
              <a:srgbClr val="C8A45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9436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 점검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4358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결산 전에 이것부터 확인하세요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3232" y="2221992"/>
            <a:ext cx="310896" cy="310896"/>
          </a:xfrm>
          <a:prstGeom prst="ellipse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03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2176272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대표자·주주 가지급금이 남아 있나요?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2935224"/>
            <a:ext cx="310896" cy="310896"/>
          </a:xfrm>
          <a:prstGeom prst="ellipse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2889504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미수금·선급금의 증빙과 회수계획이 있나요?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648456"/>
            <a:ext cx="310896" cy="310896"/>
          </a:xfrm>
          <a:prstGeom prst="ellipse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602736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예금의 거래실적과 자금 원천을 설명할 수 있나요?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" y="4361688"/>
            <a:ext cx="310896" cy="310896"/>
          </a:xfrm>
          <a:prstGeom prst="ellipse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4315968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 미회수 채권이 쌓여 있나요?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5074920"/>
            <a:ext cx="310896" cy="310896"/>
          </a:xfrm>
          <a:prstGeom prst="ellipse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502920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겸업자산과 건설업 자산이 섞여 있나요?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6126480"/>
            <a:ext cx="7955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6336792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장부상 자본이 충분해도, 기업진단 결과는 달라질 수 있습니다.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674827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4B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결산 전 사전 점검이 가장 안전합니다.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7635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A4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김포세무회계사무소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" y="80284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E3E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건설업 기업진단 · 실질자본금 사전점검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8430768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AB8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기준: 건설업관리규정 별지 2 「건설업체 기업진단지침」, 건설산업기본법 시행령.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AB8C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개별 자산의 인정 여부는 거래 사실과 증빙에 따라 달라질 수 있습니다.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김포세무회계사무소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건설업 기업진단에서 실질자본금이 부족해지는 5가지 사례</dc:title>
  <dc:subject>건설업 기업진단 카드뉴스</dc:subject>
  <dc:creator>OpenAI</dc:creator>
  <cp:lastModifiedBy>OpenAI</cp:lastModifiedBy>
  <cp:revision>1</cp:revision>
  <dcterms:created xsi:type="dcterms:W3CDTF">2026-10-08T07:18:07Z</dcterms:created>
  <dcterms:modified xsi:type="dcterms:W3CDTF">2026-10-08T07:18:07Z</dcterms:modified>
</cp:coreProperties>
</file>