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4627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1/8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1143000"/>
            <a:ext cx="6309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4233B"/>
                </a:solidFill>
              </a:rPr>
              <a:t>비상장법인이 자기주식을 취득하면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02920" y="1874520"/>
            <a:ext cx="63093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14233B"/>
                </a:solidFill>
              </a:rPr>
              <a:t>양도소득일까, 의제배당일까?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1463040" y="3703320"/>
            <a:ext cx="4389120" cy="0"/>
          </a:xfrm>
          <a:prstGeom prst="line">
            <a:avLst/>
          </a:prstGeom>
          <a:noFill/>
          <a:ln w="25400">
            <a:solidFill>
              <a:srgbClr val="C7A4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402336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7A45B"/>
                </a:solidFill>
              </a:rPr>
              <a:t>CPA 실무 카드뉴스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234440" y="4892040"/>
            <a:ext cx="4846320" cy="13716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5285232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핵심 쟁점 · 숫자 사례 · 실무 체크포인트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2/8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핵심 결론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먼저 이것부터 기억하세요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 형식보다 실제 목적과 과정이 중요합니다.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단순 매매라면 양도거래로 볼 여지가 큽니다.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소각·감자 절차의 일부라면 의제배당 쟁점이 생깁니다.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※ 개별 사실관계와 적용 시점에 따라 결론이 달라질 수 있습니다.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3/8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판단의 출발점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3가지 질문으로 정리합니다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취득 목적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계약·대금결제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취득 후 보유·소각 계획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6400800"/>
            <a:ext cx="5852160" cy="100584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6702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계정과목 이름보다 거래의 실질과 증빙이 중요합니다.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4/8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세무·회계 쟁점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한 가지 세금만 보면 안 됩니다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거래의 법적 성격과 계약관계를 먼저 확인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회계처리와 세무조정이 같은지 구분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관련 세목·신고기한·증빙을 함께 점검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37960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667085"/>
                </a:solidFill>
              </a:rPr>
              <a:t>법인세 · 소득세 · 상증세 · 부가세 · 지방세 등은 거래에 따라 함께 연결될 수 있습니다.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5/8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숫자로 보는 실무 사례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가정 사례로 구조를 이해해 보세요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주주 A가 취득가 1억원 주식을 회사에 3억원에 넘겼다고 가정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양도거래라면 양도차익 과세 구조를 검토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소각 목적 거래라면 의제배당 여부를 별도로 검토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85800" y="65836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54747"/>
                </a:solidFill>
              </a:rPr>
              <a:t>사례 숫자는 이해를 위한 예시이며 실제 세액·판단은 별도 계산이 필요합니다.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6/8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이렇게 처리하면 위험합니다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자주 놓치는 포인트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결론을 정해 놓고 증빙을 나중에 맞추는 처리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대표자·특수관계인 거래를 시가 검토 없이 처리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신고·결산 직전에 형식적으로 자금만 이동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58368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“왜 이 거래를 했는가?”를 설명할 수 있는 자료를 남겨두세요.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7/8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CPA 체크포인트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자료를 이렇게 준비하세요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" y="2743200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62072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계약서·정관·이사회/주총 의사록 등 법률자료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66928" y="3858768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0ECE3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40233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77640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세금계산서·영수증·계좌이체 등 거래증빙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66928" y="4974336"/>
            <a:ext cx="6181344" cy="804672"/>
          </a:xfrm>
          <a:prstGeom prst="roundRect">
            <a:avLst>
              <a:gd name="adj" fmla="val 6818"/>
            </a:avLst>
          </a:prstGeom>
          <a:solidFill>
            <a:srgbClr val="FFFFFF"/>
          </a:solidFill>
          <a:ln w="12700">
            <a:solidFill>
              <a:srgbClr val="DDD5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51389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7A45B"/>
                </a:solidFill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5093208"/>
            <a:ext cx="5166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4233B"/>
                </a:solidFill>
              </a:rPr>
              <a:t>재무제표·원장·신고서와 거래 전후 자금흐름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6583680"/>
            <a:ext cx="5852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4233B"/>
                </a:solidFill>
              </a:rPr>
              <a:t>자료가 연결될수록 판단은 빨라지고 세무 리스크는 줄어듭니다.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64592"/>
          </a:xfrm>
          <a:prstGeom prst="rect">
            <a:avLst/>
          </a:prstGeom>
          <a:solidFill>
            <a:srgbClr val="C7A45B"/>
          </a:solidFill>
          <a:ln w="12700">
            <a:solidFill>
              <a:srgbClr val="C7A4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38404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A45B"/>
                </a:solidFill>
                <a:latin typeface="NanumSquare" pitchFamily="34" charset="0"/>
                <a:ea typeface="NanumSquare" pitchFamily="34" charset="-122"/>
                <a:cs typeface="NanumSquare" pitchFamily="34" charset="-120"/>
              </a:rPr>
              <a:t>01 / 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172200" y="38404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</a:rPr>
              <a:t>8/8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02920" y="960120"/>
            <a:ext cx="6309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600" b="1" dirty="0">
                <a:solidFill>
                  <a:srgbClr val="14233B"/>
                </a:solidFill>
              </a:rPr>
              <a:t>우리 회사는 어떻게 적용될까요?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993392"/>
            <a:ext cx="630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C7A45B"/>
                </a:solidFill>
              </a:rPr>
              <a:t>공인회계사 전문검토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743200"/>
            <a:ext cx="5852160" cy="2057400"/>
          </a:xfrm>
          <a:prstGeom prst="roundRect">
            <a:avLst/>
          </a:prstGeom>
          <a:solidFill>
            <a:srgbClr val="14233B"/>
          </a:solidFill>
          <a:ln w="12700">
            <a:solidFill>
              <a:srgbClr val="14233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3246120"/>
            <a:ext cx="5212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자료 검토 → 쟁점 정리 → 세금·회계 영향 분석 → 실행방안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60120" y="5303520"/>
            <a:ext cx="5394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상담 시 준비자료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4233B"/>
                </a:solidFill>
              </a:rPr>
              <a:t>계약서 · 정관 · 재무제표 · 원장 · 세금계산서 · 이체내역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6949440"/>
            <a:ext cx="594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※ 본 카드뉴스는 일반 정보이며 개별 사안의 세무·법률 자문을 대체하지 않습니다.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67085"/>
                </a:solidFill>
              </a:rPr>
              <a:t>기준일: 2026.10.16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2920" y="8622792"/>
            <a:ext cx="6309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ko-KR" altLang="en-US" sz="850">
                <a:solidFill>
                  <a:srgbClr val="667085"/>
                </a:solidFill>
              </a:rPr>
              <a:t>김포세무회계사무소</a:t>
            </a:r>
            <a:r>
              <a:rPr lang="en-US" sz="850">
                <a:solidFill>
                  <a:srgbClr val="667085"/>
                </a:solidFill>
              </a:rPr>
              <a:t>  </a:t>
            </a:r>
            <a:r>
              <a:rPr lang="en-US" sz="850" dirty="0">
                <a:solidFill>
                  <a:srgbClr val="667085"/>
                </a:solidFill>
              </a:rPr>
              <a:t>|  TAX · ACCOUNTING · CONSULTING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anumSquar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anumSquare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416</Words>
  <Application>Microsoft Office PowerPoint</Application>
  <PresentationFormat>사용자 지정</PresentationFormat>
  <Paragraphs>97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NanumSquare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공인회계사 콘텐츠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CPA 카드뉴스 30개 × 8장</dc:title>
  <dc:subject>CPA 카드뉴스 30개 시리즈</dc:subject>
  <dc:creator>OpenAI</dc:creator>
  <cp:lastModifiedBy>덕섭 임</cp:lastModifiedBy>
  <cp:revision>2</cp:revision>
  <dcterms:created xsi:type="dcterms:W3CDTF">2026-10-16T12:29:29Z</dcterms:created>
  <dcterms:modified xsi:type="dcterms:W3CDTF">2026-10-16T13:15:16Z</dcterms:modified>
</cp:coreProperties>
</file>