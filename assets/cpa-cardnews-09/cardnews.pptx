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320" r:id="rId2"/>
    <p:sldId id="321" r:id="rId3"/>
    <p:sldId id="322" r:id="rId4"/>
    <p:sldId id="323" r:id="rId5"/>
    <p:sldId id="324" r:id="rId6"/>
    <p:sldId id="325" r:id="rId7"/>
    <p:sldId id="326" r:id="rId8"/>
    <p:sldId id="327" r:id="rId9"/>
  </p:sldIdLst>
  <p:sldSz cx="7315200" cy="9144000"/>
  <p:notesSz cx="9144000" cy="7315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353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09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1/8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33B"/>
                </a:solidFill>
              </a:rPr>
              <a:t>법인이 아파트를 취득하면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874520"/>
            <a:ext cx="6309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4233B"/>
                </a:solidFill>
              </a:rPr>
              <a:t>취득세는 얼마나 나올까?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463040" y="3703320"/>
            <a:ext cx="4389120" cy="0"/>
          </a:xfrm>
          <a:prstGeom prst="line">
            <a:avLst/>
          </a:prstGeom>
          <a:noFill/>
          <a:ln w="25400">
            <a:solidFill>
              <a:srgbClr val="C7A4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40233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7A45B"/>
                </a:solidFill>
              </a:rPr>
              <a:t>CPA 실무 카드뉴스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234440" y="4892040"/>
            <a:ext cx="4846320" cy="1371600"/>
          </a:xfrm>
          <a:prstGeom prst="roundRect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528523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핵심 쟁점 · 숫자 사례 · 실무 체크포인트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09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2/8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핵심 결론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먼저 이것부터 기억하세요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법인의 주택 취득은 개인과 세율 구조가 다를 수 있습니다.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주택 수·지역·취득 목적·예외 규정을 확인해야 합니다.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취득 전 지방세 검토가 필수입니다.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65836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54747"/>
                </a:solidFill>
              </a:rPr>
              <a:t>※ 개별 사실관계와 적용 시점에 따라 결론이 달라질 수 있습니다.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09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3/8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판단의 출발점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3가지 질문으로 정리합니다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주택 해당 여부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취득 원인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중과 예외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6400800"/>
            <a:ext cx="5852160" cy="1005840"/>
          </a:xfrm>
          <a:prstGeom prst="roundRect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670255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계정과목 이름보다 거래의 실질과 증빙이 중요합니다.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09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4/8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세무·회계 쟁점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한 가지 세금만 보면 안 됩니다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거래의 법적 성격과 계약관계를 먼저 확인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회계처리와 세무조정이 같은지 구분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관련 세목·신고기한·증빙을 함께 점검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653796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67085"/>
                </a:solidFill>
              </a:rPr>
              <a:t>법인세 · 소득세 · 상증세 · 부가세 · 지방세 등은 거래에 따라 함께 연결될 수 있습니다.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09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5/8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숫자로 보는 실무 사례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가정 사례로 구조를 이해해 보세요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매매계약서 작성 전에 예상 취득세 계산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법인이라고 일률적으로 한 숫자를 적용하면 위험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지방교육세 등 부가세목도 함께 확인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658368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54747"/>
                </a:solidFill>
              </a:rPr>
              <a:t>사례 숫자는 이해를 위한 예시이며 실제 세액·판단은 별도 계산이 필요합니다.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09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6/8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이렇게 처리하면 위험합니다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자주 놓치는 포인트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결론을 정해 놓고 증빙을 나중에 맞추는 처리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대표자·특수관계인 거래를 시가 검토 없이 처리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신고·결산 직전에 형식적으로 자금만 이동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658368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“왜 이 거래를 했는가?”를 설명할 수 있는 자료를 남겨두세요.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09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7/8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CPA 체크포인트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자료를 이렇게 준비하세요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계약서·정관·이사회/주총 의사록 등 법률자료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세금계산서·영수증·계좌이체 등 거래증빙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재무제표·원장·신고서와 거래 전후 자금흐름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658368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33B"/>
                </a:solidFill>
              </a:rPr>
              <a:t>자료가 연결될수록 판단은 빨라지고 세무 리스크는 줄어듭니다.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09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8/8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우리 회사는 어떻게 적용될까요?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공인회계사 전문검토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5852160" cy="2057400"/>
          </a:xfrm>
          <a:prstGeom prst="roundRect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324612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자료 검토 → 쟁점 정리 → 세금·회계 영향 분석 → 실행방안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5303520"/>
            <a:ext cx="5394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33B"/>
                </a:solidFill>
              </a:rPr>
              <a:t>상담 시 준비자료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4233B"/>
                </a:solidFill>
              </a:rPr>
              <a:t>계약서 · 정관 · 재무제표 · 원장 · 세금계산서 · 이체내역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694944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</a:rPr>
              <a:t>※ 본 카드뉴스는 일반 정보이며 개별 사안의 세무·법률 자문을 대체하지 않습니다.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</a:rPr>
              <a:t>기준일: 2026.10.16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anumSquar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anumSquar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411</Words>
  <Application>Microsoft Office PowerPoint</Application>
  <PresentationFormat>사용자 지정</PresentationFormat>
  <Paragraphs>97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NanumSquare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공인회계사 콘텐츠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CPA 카드뉴스 30개 × 8장</dc:title>
  <dc:subject>CPA 카드뉴스 30개 시리즈</dc:subject>
  <dc:creator>OpenAI</dc:creator>
  <cp:lastModifiedBy>덕섭 임</cp:lastModifiedBy>
  <cp:revision>2</cp:revision>
  <dcterms:created xsi:type="dcterms:W3CDTF">2026-10-16T12:29:29Z</dcterms:created>
  <dcterms:modified xsi:type="dcterms:W3CDTF">2026-10-16T13:15:36Z</dcterms:modified>
</cp:coreProperties>
</file>